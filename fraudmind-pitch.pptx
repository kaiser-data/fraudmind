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84a7f5a47d94b7f" Type="http://schemas.openxmlformats.org/package/2006/relationships/metadata/core-properties" Target="docProps/core.xml"/><Relationship Id="R788d4623bc6d42d9" Type="http://schemas.openxmlformats.org/officeDocument/2006/relationships/officeDocument" Target="ppt/presentation.xml"/><Relationship Id="Rdd5dc1c4d7a343a9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136e6bf0e84526"/>
  </p:sldMasterIdLst>
  <p:notesMasterIdLst>
    <p:notesMasterId xmlns:r="http://schemas.openxmlformats.org/officeDocument/2006/relationships" r:id="R44b1e0962d964eb3"/>
  </p:notesMasterIdLst>
  <p:sldIdLst>
    <p:sldId xmlns:r="http://schemas.openxmlformats.org/officeDocument/2006/relationships" id="256" r:id="R6a828e98c3414e48"/>
    <p:sldId xmlns:r="http://schemas.openxmlformats.org/officeDocument/2006/relationships" id="257" r:id="Raa4eb5e100fc40b6"/>
    <p:sldId xmlns:r="http://schemas.openxmlformats.org/officeDocument/2006/relationships" id="258" r:id="Re572927402684a13"/>
    <p:sldId xmlns:r="http://schemas.openxmlformats.org/officeDocument/2006/relationships" id="259" r:id="Rf5ee0e4a10e74854"/>
    <p:sldId xmlns:r="http://schemas.openxmlformats.org/officeDocument/2006/relationships" id="260" r:id="R48e0fc8aabfc45e0"/>
    <p:sldId xmlns:ns0="http://schemas.openxmlformats.org/officeDocument/2006/relationships" id="261" ns0:id="rId11"/>
    <p:sldId xmlns:ns0="http://schemas.openxmlformats.org/officeDocument/2006/relationships" id="262" ns0:id="rId1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517bba0c97a478e" Type="http://schemas.openxmlformats.org/officeDocument/2006/relationships/presProps" Target="presProps.xml"/><Relationship Id="R44b1e0962d964eb3" Type="http://schemas.openxmlformats.org/officeDocument/2006/relationships/notesMaster" Target="notesMasters/notesMaster1.xml"/><Relationship Id="R48e0fc8aabfc45e0" Type="http://schemas.openxmlformats.org/officeDocument/2006/relationships/slide" Target="slides/slide5.xml"/><Relationship Id="R6a828e98c3414e48" Type="http://schemas.openxmlformats.org/officeDocument/2006/relationships/slide" Target="slides/slide1.xml"/><Relationship Id="R85ff93a0e71e4a88" Type="http://schemas.openxmlformats.org/officeDocument/2006/relationships/tableStyles" Target="tableStyles.xml"/><Relationship Id="Ra449c2ee81424a0e" Type="http://schemas.openxmlformats.org/officeDocument/2006/relationships/theme" Target="theme/theme1.xml"/><Relationship Id="Raa4eb5e100fc40b6" Type="http://schemas.openxmlformats.org/officeDocument/2006/relationships/slide" Target="slides/slide2.xml"/><Relationship Id="Re572927402684a13" Type="http://schemas.openxmlformats.org/officeDocument/2006/relationships/slide" Target="slides/slide3.xml"/><Relationship Id="Rf5ee0e4a10e74854" Type="http://schemas.openxmlformats.org/officeDocument/2006/relationships/slide" Target="slides/slide4.xml"/><Relationship Id="Rff136e6bf0e84526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a4799a89746f4722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a2f2b7ccbdfb49e2" Type="http://schemas.openxmlformats.org/officeDocument/2006/relationships/notesMaster" Target="../notesMasters/notesMaster1.xml"/><Relationship Id="Rd83c3d9c0fb546d8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1210e1d11dd745b9" Type="http://schemas.openxmlformats.org/officeDocument/2006/relationships/notesMaster" Target="../notesMasters/notesMaster1.xml"/><Relationship Id="Rdeb43a41d03047bb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3a0495bf3fa54871" Type="http://schemas.openxmlformats.org/officeDocument/2006/relationships/slide" Target="../slides/slide3.xml"/><Relationship Id="R68268cf5567c465e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649760705ca34277" Type="http://schemas.openxmlformats.org/officeDocument/2006/relationships/notesMaster" Target="../notesMasters/notesMaster1.xml"/><Relationship Id="Rdd86d0b42dcd400e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b16d0da034c54dfd" Type="http://schemas.openxmlformats.org/officeDocument/2006/relationships/notesMaster" Target="../notesMasters/notesMaster1.xml"/><Relationship Id="Rc3388412aa0c403d" Type="http://schemas.openxmlformats.org/officeDocument/2006/relationships/slide" Target="../slides/slide5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FraudMind is an evidence-led fraud review console for German GDPdU audit dossiers.</a:t>
            </a:r>
          </a:p>
          <a:p xmlns:a="http://schemas.openxmlformats.org/drawingml/2006/main">
            <a:r>
              <a:t>Primary sources: https://github.com/kaiser-data/fraudmind and https://fraudmind.netlify.app/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 separates calculation from explanation and decision-making.</a:t>
            </a:r>
          </a:p>
          <a:p xmlns:a="http://schemas.openxmlformats.org/drawingml/2006/main">
            <a:r>
              <a:t>Cognee supplies the relationship graph; OpenAI supplies auditor-language explanations; deterministic checks retain ownership of numeric claims.</a:t>
            </a:r>
          </a:p>
          <a:p xmlns:a="http://schemas.openxmlformats.org/drawingml/2006/main">
            <a:r>
              <a:t>Source: https://github.com/kaiser-data/fraudmind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public demo is preloaded with the practice dossier and exposes the review and report stages.</a:t>
            </a:r>
          </a:p>
          <a:p xmlns:a="http://schemas.openxmlformats.org/drawingml/2006/main">
            <a:r>
              <a:t>The screenshot shows the F001 self-approved vendor case, evidence citations, and human decision controls.</a:t>
            </a:r>
          </a:p>
          <a:p xmlns:a="http://schemas.openxmlformats.org/drawingml/2006/main">
            <a:r>
              <a:t>Source: https://fraudmind.netlify.app/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pipeline ran unchanged on the final Beispiel Dämmstoffe dossier.</a:t>
            </a:r>
          </a:p>
          <a:p xmlns:a="http://schemas.openxmlformats.org/drawingml/2006/main">
            <a:r>
              <a:t>The practice dossier also found all four planted schemes with zero decoys wrongly accused, according to the repository README.</a:t>
            </a:r>
          </a:p>
          <a:p xmlns:a="http://schemas.openxmlformats.org/drawingml/2006/main">
            <a:r>
              <a:t>Source: https://github.com/kaiser-data/fraudmind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low-friction pilot: one dossier and one audit team.</a:t>
            </a:r>
          </a:p>
          <a:p xmlns:a="http://schemas.openxmlformats.org/drawingml/2006/main">
            <a:r>
              <a:t>Evaluate speed, evidence traceability, and false-positive handling before discussing broader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904bd5baae64b2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ae02751a5f24c3e" Type="http://schemas.openxmlformats.org/officeDocument/2006/relationships/theme" Target="theme/theme2.xml"/><Relationship Id="R35cb0c3653f64120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cb0c3653f641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03e09fc22f44357" Type="http://schemas.openxmlformats.org/officeDocument/2006/relationships/slideLayout" Target="../slideLayouts/slideLayout1.xml"/><Relationship Id="Rc0428a365283483c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7c3dd01c112946ac" Type="http://schemas.openxmlformats.org/officeDocument/2006/relationships/notesSlide" Target="../notesSlides/notesSlide2.xml"/><Relationship Id="R8d5d9b157d174ca4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d5f11edb1ad04707" Type="http://schemas.openxmlformats.org/officeDocument/2006/relationships/notesSlide" Target="../notesSlides/notesSlide3.xml"/><Relationship Id="Rd8d148545b264064" Type="http://schemas.openxmlformats.org/officeDocument/2006/relationships/slideLayout" Target="../slideLayouts/slideLayout1.xml"/><Relationship Id="Rf9b79369ad1b4549" Type="http://schemas.openxmlformats.org/officeDocument/2006/relationships/image" Target="../media/image.jpeg"/></Relationships>
</file>

<file path=ppt/slides/_rels/slide4.xml.rels><?xml version='1.0' encoding='UTF-8' standalone='yes'?>
<Relationships xmlns="http://schemas.openxmlformats.org/package/2006/relationships"><Relationship Id="R07dedbe6ddd34ceb" Type="http://schemas.openxmlformats.org/officeDocument/2006/relationships/notesSlide" Target="../notesSlides/notesSlide4.xml"/><Relationship Id="Re06690f1980e4504" Type="http://schemas.openxmlformats.org/officeDocument/2006/relationships/slideLayout" Target="../slideLayouts/slideLayout1.xml"/><Relationship Id="Re4ebc1dee78e4ded" Type="http://schemas.openxmlformats.org/officeDocument/2006/relationships/image" Target="../media/image2.jpeg"/></Relationships>
</file>

<file path=ppt/slides/_rels/slide5.xml.rels><?xml version='1.0' encoding='UTF-8' standalone='yes'?>
<Relationships xmlns="http://schemas.openxmlformats.org/package/2006/relationships"><Relationship Id="R25a8da61e98147b1" Type="http://schemas.openxmlformats.org/officeDocument/2006/relationships/notesSlide" Target="../notesSlides/notesSlide5.xml"/><Relationship Id="R575763d4619d4d6c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ED25ED22-56F7-42AB-BF3F-5E0CEBCD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286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3D7A"/>
                </a:solidFill>
                <a:latin typeface="Helvetica Neue"/>
                <a:ea typeface="Helvetica Neue"/>
                <a:cs typeface="Helvetica Neue"/>
              </a:defRPr>
            </a:pPr>
            <a:r>
              <a:t>FRAUDMIND  ·  BERLIN SUMMER LOCK-IN 2026</a:t>
            </a:r>
          </a:p>
        </p:txBody>
      </p:sp>
      <p:sp>
        <p:nvSpPr>
          <p:cNvPr id="2" name="brand-badge">
            <a:extLst xmlns:a="http://schemas.openxmlformats.org/drawingml/2006/main">
              <a:ext uri="{FF2B5EF4-FFF2-40B4-BE49-F238E27FC236}">
                <a16:creationId xmlns:a16="http://schemas.microsoft.com/office/drawing/2014/main" id="{CA63D174-018D-4132-AA50-5F735E75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90525"/>
            <a:ext cx="571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F3D7A"/>
          </a:solidFill>
          <a:ln xmlns:a="http://schemas.openxmlformats.org/drawingml/2006/main" w="0">
            <a:solidFill>
              <a:srgbClr val="1F3D7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brand-badge-label">
            <a:extLst xmlns:a="http://schemas.openxmlformats.org/drawingml/2006/main">
              <a:ext uri="{FF2B5EF4-FFF2-40B4-BE49-F238E27FC236}">
                <a16:creationId xmlns:a16="http://schemas.microsoft.com/office/drawing/2014/main" id="{3973492D-EE5F-44BB-A036-F49E06BA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47675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fm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55011B4-D7BD-4956-80B5-4F2F9CA3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00125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Fraud hunting
with proof attached.</a:t>
            </a:r>
          </a:p>
        </p:txBody>
      </p:sp>
      <p:sp>
        <p:nvSpPr>
          <p:cNvPr id="5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7B2AF024-4589-4249-AF33-1D933B34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91050"/>
            <a:ext cx="1257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3D7A"/>
          </a:solidFill>
          <a:ln xmlns:a="http://schemas.openxmlformats.org/drawingml/2006/main" w="0">
            <a:solidFill>
              <a:srgbClr val="1F3D7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C442AE8-FA69-4D2F-8BE5-9D7EDE9D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14900"/>
            <a:ext cx="8191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46536B"/>
                </a:solidFill>
                <a:latin typeface="Helvetica Neue"/>
                <a:ea typeface="Helvetica Neue"/>
                <a:cs typeface="Helvetica Neue"/>
              </a:defRPr>
            </a:pPr>
            <a:r>
              <a:t>Deterministic checks. AI-assisted explanation. Human verdicts.</a:t>
            </a:r>
          </a:p>
        </p:txBody>
      </p:sp>
      <p:sp>
        <p:nvSpPr>
          <p:cNvPr id="7" name="cover-proof-line">
            <a:extLst xmlns:a="http://schemas.openxmlformats.org/drawingml/2006/main">
              <a:ext uri="{FF2B5EF4-FFF2-40B4-BE49-F238E27FC236}">
                <a16:creationId xmlns:a16="http://schemas.microsoft.com/office/drawing/2014/main" id="{A9AF54C3-B065-49B8-A56A-100F1678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867400"/>
            <a:ext cx="495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No number without a source.</a:t>
            </a:r>
          </a:p>
        </p:txBody>
      </p:sp>
      <p:sp>
        <p:nvSpPr>
          <p:cNvPr id="8" name="page-1">
            <a:extLst xmlns:a="http://schemas.openxmlformats.org/drawingml/2006/main">
              <a:ext uri="{FF2B5EF4-FFF2-40B4-BE49-F238E27FC236}">
                <a16:creationId xmlns:a16="http://schemas.microsoft.com/office/drawing/2014/main" id="{07926272-A3C8-4C2D-8E55-4E6D737D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482558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rust-title">
            <a:extLst xmlns:a="http://schemas.openxmlformats.org/drawingml/2006/main">
              <a:ext uri="{FF2B5EF4-FFF2-40B4-BE49-F238E27FC236}">
                <a16:creationId xmlns:a16="http://schemas.microsoft.com/office/drawing/2014/main" id="{6C8F8C06-3326-4FC3-8944-D758387F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contract is simple: machines surface evidence; auditors keep judgment.</a:t>
            </a:r>
          </a:p>
        </p:txBody>
      </p:sp>
      <p:sp>
        <p:nvSpPr>
          <p:cNvPr id="2" name="trust-deck">
            <a:extLst xmlns:a="http://schemas.openxmlformats.org/drawingml/2006/main">
              <a:ext uri="{FF2B5EF4-FFF2-40B4-BE49-F238E27FC236}">
                <a16:creationId xmlns:a16="http://schemas.microsoft.com/office/drawing/2014/main" id="{EEF85D56-9F01-413E-B40A-F9C447C3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24000"/>
            <a:ext cx="10572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46536B"/>
                </a:solidFill>
                <a:latin typeface="Helvetica Neue"/>
                <a:ea typeface="Helvetica Neue"/>
                <a:cs typeface="Helvetica Neue"/>
              </a:defRPr>
            </a:pPr>
            <a:r>
              <a:t>The engine owns the facts. AI is constrained to language and relationship discovery. The reviewer owns the verdict.</a:t>
            </a:r>
          </a:p>
        </p:txBody>
      </p:sp>
      <p:cxnSp>
        <p:nvCxnSpPr>
          <p:cNvPr id="20" name="trust-line"/>
          <p:cNvCxnSpPr/>
          <p:nvPr/>
        </p:nvCxnSpPr>
        <p:spPr>
          <a:xfrm xmlns:a="http://schemas.openxmlformats.org/drawingml/2006/main">
            <a:off x="393668" y="3343275"/>
            <a:ext cx="106489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01  RULES-label">
            <a:extLst xmlns:a="http://schemas.openxmlformats.org/drawingml/2006/main">
              <a:ext uri="{FF2B5EF4-FFF2-40B4-BE49-F238E27FC236}">
                <a16:creationId xmlns:a16="http://schemas.microsoft.com/office/drawing/2014/main" id="{B1E2E143-F9D0-47BB-9C5A-6121F9F4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14625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3D7A"/>
                </a:solidFill>
                <a:latin typeface="Helvetica Neue"/>
                <a:ea typeface="Helvetica Neue"/>
                <a:cs typeface="Helvetica Neue"/>
              </a:defRPr>
            </a:pPr>
            <a:r>
              <a:t>01  RULES</a:t>
            </a:r>
          </a:p>
        </p:txBody>
      </p:sp>
      <p:sp>
        <p:nvSpPr>
          <p:cNvPr id="5" name="01  RULES-dot">
            <a:extLst xmlns:a="http://schemas.openxmlformats.org/drawingml/2006/main">
              <a:ext uri="{FF2B5EF4-FFF2-40B4-BE49-F238E27FC236}">
                <a16:creationId xmlns:a16="http://schemas.microsoft.com/office/drawing/2014/main" id="{B1C7C561-A36C-4780-9F70-06E807F9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76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D7A"/>
          </a:solidFill>
          <a:ln xmlns:a="http://schemas.openxmlformats.org/drawingml/2006/main" w="0">
            <a:solidFill>
              <a:srgbClr val="1F3D7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01  RULES-title">
            <a:extLst xmlns:a="http://schemas.openxmlformats.org/drawingml/2006/main">
              <a:ext uri="{FF2B5EF4-FFF2-40B4-BE49-F238E27FC236}">
                <a16:creationId xmlns:a16="http://schemas.microsoft.com/office/drawing/2014/main" id="{17956164-48F6-4444-B774-12E5EC01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771900"/>
            <a:ext cx="3162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Deterministic engine</a:t>
            </a:r>
          </a:p>
        </p:txBody>
      </p:sp>
      <p:sp>
        <p:nvSpPr>
          <p:cNvPr id="7" name="01  RULES-body">
            <a:extLst xmlns:a="http://schemas.openxmlformats.org/drawingml/2006/main">
              <a:ext uri="{FF2B5EF4-FFF2-40B4-BE49-F238E27FC236}">
                <a16:creationId xmlns:a16="http://schemas.microsoft.com/office/drawing/2014/main" id="{CDAFBB3F-E6ED-43E3-AD3A-5805AFB6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76725"/>
            <a:ext cx="31623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46536B"/>
                </a:solidFill>
                <a:latin typeface="Helvetica Neue"/>
                <a:ea typeface="Helvetica Neue"/>
                <a:cs typeface="Helvetica Neue"/>
              </a:defRPr>
            </a:pPr>
            <a:r>
              <a:t>Links ledgers, subledgers, assets and approvals; runs 22 check families; cites every figure to file and row.</a:t>
            </a:r>
          </a:p>
        </p:txBody>
      </p:sp>
      <p:sp>
        <p:nvSpPr>
          <p:cNvPr id="8" name="02  LANGUAGE + GRAPH-label">
            <a:extLst xmlns:a="http://schemas.openxmlformats.org/drawingml/2006/main">
              <a:ext uri="{FF2B5EF4-FFF2-40B4-BE49-F238E27FC236}">
                <a16:creationId xmlns:a16="http://schemas.microsoft.com/office/drawing/2014/main" id="{63B2ECBA-DF46-49C0-93F1-C613E69D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2714625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3D7A"/>
                </a:solidFill>
                <a:latin typeface="Helvetica Neue"/>
                <a:ea typeface="Helvetica Neue"/>
                <a:cs typeface="Helvetica Neue"/>
              </a:defRPr>
            </a:pPr>
            <a:r>
              <a:t>02  LANGUAGE + GRAPH</a:t>
            </a:r>
          </a:p>
        </p:txBody>
      </p:sp>
      <p:sp>
        <p:nvSpPr>
          <p:cNvPr id="9" name="02  LANGUAGE + GRAPH-dot">
            <a:extLst xmlns:a="http://schemas.openxmlformats.org/drawingml/2006/main">
              <a:ext uri="{FF2B5EF4-FFF2-40B4-BE49-F238E27FC236}">
                <a16:creationId xmlns:a16="http://schemas.microsoft.com/office/drawing/2014/main" id="{C0EED718-C6D1-45B3-8A85-1C2EC8A5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276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D7A"/>
          </a:solidFill>
          <a:ln xmlns:a="http://schemas.openxmlformats.org/drawingml/2006/main" w="0">
            <a:solidFill>
              <a:srgbClr val="1F3D7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02  LANGUAGE + GRAPH-title">
            <a:extLst xmlns:a="http://schemas.openxmlformats.org/drawingml/2006/main">
              <a:ext uri="{FF2B5EF4-FFF2-40B4-BE49-F238E27FC236}">
                <a16:creationId xmlns:a16="http://schemas.microsoft.com/office/drawing/2014/main" id="{ECB9932D-2782-4B9C-8E14-72F704E0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771900"/>
            <a:ext cx="3162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Constrained AI layer</a:t>
            </a:r>
          </a:p>
        </p:txBody>
      </p:sp>
      <p:sp>
        <p:nvSpPr>
          <p:cNvPr id="11" name="02  LANGUAGE + GRAPH-body">
            <a:extLst xmlns:a="http://schemas.openxmlformats.org/drawingml/2006/main">
              <a:ext uri="{FF2B5EF4-FFF2-40B4-BE49-F238E27FC236}">
                <a16:creationId xmlns:a16="http://schemas.microsoft.com/office/drawing/2014/main" id="{CA4B0E11-C236-42C1-BFDD-D4790DA3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4276725"/>
            <a:ext cx="31623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46536B"/>
                </a:solidFill>
                <a:latin typeface="Helvetica Neue"/>
                <a:ea typeface="Helvetica Neue"/>
                <a:cs typeface="Helvetica Neue"/>
              </a:defRPr>
            </a:pPr>
            <a:r>
              <a:t>OpenAI writes auditor-ready explanations; a Cognee knowledge graph independently ranks fraud candidates. Every numeric token is checked against engine output.</a:t>
            </a:r>
          </a:p>
        </p:txBody>
      </p:sp>
      <p:sp>
        <p:nvSpPr>
          <p:cNvPr id="12" name="03  VERDICTS-label">
            <a:extLst xmlns:a="http://schemas.openxmlformats.org/drawingml/2006/main">
              <a:ext uri="{FF2B5EF4-FFF2-40B4-BE49-F238E27FC236}">
                <a16:creationId xmlns:a16="http://schemas.microsoft.com/office/drawing/2014/main" id="{43829008-6B09-4F42-9DF5-18EC5F1E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933" y="2714625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03  VERDICTS</a:t>
            </a:r>
          </a:p>
        </p:txBody>
      </p:sp>
      <p:sp>
        <p:nvSpPr>
          <p:cNvPr id="13" name="03  VERDICTS-dot">
            <a:extLst xmlns:a="http://schemas.openxmlformats.org/drawingml/2006/main">
              <a:ext uri="{FF2B5EF4-FFF2-40B4-BE49-F238E27FC236}">
                <a16:creationId xmlns:a16="http://schemas.microsoft.com/office/drawing/2014/main" id="{D9D7235E-BEDE-4519-A6C0-57F314AD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933" y="3276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03  VERDICTS-title">
            <a:extLst xmlns:a="http://schemas.openxmlformats.org/drawingml/2006/main">
              <a:ext uri="{FF2B5EF4-FFF2-40B4-BE49-F238E27FC236}">
                <a16:creationId xmlns:a16="http://schemas.microsoft.com/office/drawing/2014/main" id="{1D22F0C7-D54B-4764-BD11-A9C85946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933" y="3771900"/>
            <a:ext cx="3162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Human review</a:t>
            </a:r>
          </a:p>
        </p:txBody>
      </p:sp>
      <p:sp>
        <p:nvSpPr>
          <p:cNvPr id="15" name="03  VERDICTS-body">
            <a:extLst xmlns:a="http://schemas.openxmlformats.org/drawingml/2006/main">
              <a:ext uri="{FF2B5EF4-FFF2-40B4-BE49-F238E27FC236}">
                <a16:creationId xmlns:a16="http://schemas.microsoft.com/office/drawing/2014/main" id="{EE9B56BC-55C8-4898-800F-DBBBC805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2933" y="4276725"/>
            <a:ext cx="31623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46536B"/>
                </a:solidFill>
                <a:latin typeface="Helvetica Neue"/>
                <a:ea typeface="Helvetica Neue"/>
                <a:cs typeface="Helvetica Neue"/>
              </a:defRPr>
            </a:pPr>
            <a:r>
              <a:t>Confirm fraud, request follow-up, or dismiss. Reviewer notes and timestamps flow into the final report.</a:t>
            </a:r>
          </a:p>
        </p:txBody>
      </p:sp>
      <p:sp>
        <p:nvSpPr>
          <p:cNvPr id="16" name="source-2">
            <a:extLst xmlns:a="http://schemas.openxmlformats.org/drawingml/2006/main">
              <a:ext uri="{FF2B5EF4-FFF2-40B4-BE49-F238E27FC236}">
                <a16:creationId xmlns:a16="http://schemas.microsoft.com/office/drawing/2014/main" id="{D6A238E6-B179-41FA-BF35-55A68F29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62700"/>
            <a:ext cx="933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6738C"/>
                </a:solidFill>
                <a:latin typeface="Helvetica Neue"/>
                <a:ea typeface="Helvetica Neue"/>
                <a:cs typeface="Helvetica Neue"/>
              </a:defRPr>
            </a:pPr>
            <a:r>
              <a:t>Source: FraudMind README · architecture and product contract</a:t>
            </a:r>
          </a:p>
        </p:txBody>
      </p:sp>
      <p:sp>
        <p:nvSpPr>
          <p:cNvPr id="17" name="page-2">
            <a:extLst xmlns:a="http://schemas.openxmlformats.org/drawingml/2006/main">
              <a:ext uri="{FF2B5EF4-FFF2-40B4-BE49-F238E27FC236}">
                <a16:creationId xmlns:a16="http://schemas.microsoft.com/office/drawing/2014/main" id="{1E7C1A07-3E53-4E2E-AF50-599C7F3A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91026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orkflow-title">
            <a:extLst xmlns:a="http://schemas.openxmlformats.org/drawingml/2006/main">
              <a:ext uri="{FF2B5EF4-FFF2-40B4-BE49-F238E27FC236}">
                <a16:creationId xmlns:a16="http://schemas.microsoft.com/office/drawing/2014/main" id="{D3D068CB-D67D-4674-A722-78C05622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million ledger lines become a review queue — not a black box.</a:t>
            </a:r>
          </a:p>
        </p:txBody>
      </p:sp>
      <p:sp>
        <p:nvSpPr>
          <p:cNvPr id="2" name="workflow-image-backing">
            <a:extLst xmlns:a="http://schemas.openxmlformats.org/drawingml/2006/main">
              <a:ext uri="{FF2B5EF4-FFF2-40B4-BE49-F238E27FC236}">
                <a16:creationId xmlns:a16="http://schemas.microsoft.com/office/drawing/2014/main" id="{22FEEECC-62C9-4A7F-A228-F8A5FF94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1466850"/>
            <a:ext cx="5539740" cy="44958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EEF2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workflow-label">
            <a:extLst xmlns:a="http://schemas.openxmlformats.org/drawingml/2006/main">
              <a:ext uri="{FF2B5EF4-FFF2-40B4-BE49-F238E27FC236}">
                <a16:creationId xmlns:a16="http://schemas.microsoft.com/office/drawing/2014/main" id="{B93EDA24-A5DD-46DD-8E02-C963AB83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819275"/>
            <a:ext cx="5534025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3D7A"/>
                </a:solidFill>
                <a:latin typeface="Helvetica Neue"/>
                <a:ea typeface="Helvetica Neue"/>
                <a:cs typeface="Helvetica Neue"/>
              </a:defRPr>
            </a:pPr>
            <a:r>
              <a:t>DOSSIER  →  ANALYSIS  →  REVIEW  →  REPORT</a:t>
            </a:r>
          </a:p>
        </p:txBody>
      </p:sp>
      <p:sp>
        <p:nvSpPr>
          <p:cNvPr id="4" name="workflow-step-01-num">
            <a:extLst xmlns:a="http://schemas.openxmlformats.org/drawingml/2006/main">
              <a:ext uri="{FF2B5EF4-FFF2-40B4-BE49-F238E27FC236}">
                <a16:creationId xmlns:a16="http://schemas.microsoft.com/office/drawing/2014/main" id="{D73CC100-613D-4DB4-B7EE-BC769944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8125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3D7A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5" name="workflow-step-01-title">
            <a:extLst xmlns:a="http://schemas.openxmlformats.org/drawingml/2006/main">
              <a:ext uri="{FF2B5EF4-FFF2-40B4-BE49-F238E27FC236}">
                <a16:creationId xmlns:a16="http://schemas.microsoft.com/office/drawing/2014/main" id="{B2A08372-3738-4800-8EBC-11916791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47625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Ingest the dossier</a:t>
            </a:r>
          </a:p>
        </p:txBody>
      </p:sp>
      <p:sp>
        <p:nvSpPr>
          <p:cNvPr id="6" name="workflow-step-01-body">
            <a:extLst xmlns:a="http://schemas.openxmlformats.org/drawingml/2006/main">
              <a:ext uri="{FF2B5EF4-FFF2-40B4-BE49-F238E27FC236}">
                <a16:creationId xmlns:a16="http://schemas.microsoft.com/office/drawing/2014/main" id="{C0454FA4-1F45-4271-8128-59FA3188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76525"/>
            <a:ext cx="4762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6536B"/>
                </a:solidFill>
                <a:latin typeface="Helvetica Neue"/>
                <a:ea typeface="Helvetica Neue"/>
                <a:cs typeface="Helvetica Neue"/>
              </a:defRPr>
            </a:pPr>
            <a:r>
              <a:t>GDPdU exports, companion documents and subledgers are parsed and linked by document number.</a:t>
            </a:r>
          </a:p>
        </p:txBody>
      </p:sp>
      <p:sp>
        <p:nvSpPr>
          <p:cNvPr id="7" name="workflow-step-02-num">
            <a:extLst xmlns:a="http://schemas.openxmlformats.org/drawingml/2006/main">
              <a:ext uri="{FF2B5EF4-FFF2-40B4-BE49-F238E27FC236}">
                <a16:creationId xmlns:a16="http://schemas.microsoft.com/office/drawing/2014/main" id="{0FD4ECEA-0044-474F-BDCC-4F20BDDB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0040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3D7A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8" name="workflow-step-02-title">
            <a:extLst xmlns:a="http://schemas.openxmlformats.org/drawingml/2006/main">
              <a:ext uri="{FF2B5EF4-FFF2-40B4-BE49-F238E27FC236}">
                <a16:creationId xmlns:a16="http://schemas.microsoft.com/office/drawing/2014/main" id="{DFFEA9D9-A765-4B40-89D8-DD7B8D40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47625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 traceable tests</a:t>
            </a:r>
          </a:p>
        </p:txBody>
      </p:sp>
      <p:sp>
        <p:nvSpPr>
          <p:cNvPr id="9" name="workflow-step-02-body">
            <a:extLst xmlns:a="http://schemas.openxmlformats.org/drawingml/2006/main">
              <a:ext uri="{FF2B5EF4-FFF2-40B4-BE49-F238E27FC236}">
                <a16:creationId xmlns:a16="http://schemas.microsoft.com/office/drawing/2014/main" id="{445ABDF3-31AA-4ECF-8301-8461C5A2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95675"/>
            <a:ext cx="4762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6536B"/>
                </a:solidFill>
                <a:latin typeface="Helvetica Neue"/>
                <a:ea typeface="Helvetica Neue"/>
                <a:cs typeface="Helvetica Neue"/>
              </a:defRPr>
            </a:pPr>
            <a:r>
              <a:t>Control definitions and thresholds are read from the dossier's own planning workpaper.</a:t>
            </a:r>
          </a:p>
        </p:txBody>
      </p:sp>
      <p:sp>
        <p:nvSpPr>
          <p:cNvPr id="10" name="workflow-step-03-num">
            <a:extLst xmlns:a="http://schemas.openxmlformats.org/drawingml/2006/main">
              <a:ext uri="{FF2B5EF4-FFF2-40B4-BE49-F238E27FC236}">
                <a16:creationId xmlns:a16="http://schemas.microsoft.com/office/drawing/2014/main" id="{8C2E0371-9CD4-43E8-B7A2-FD78C7AA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955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3D7A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1" name="workflow-step-03-title">
            <a:extLst xmlns:a="http://schemas.openxmlformats.org/drawingml/2006/main">
              <a:ext uri="{FF2B5EF4-FFF2-40B4-BE49-F238E27FC236}">
                <a16:creationId xmlns:a16="http://schemas.microsoft.com/office/drawing/2014/main" id="{79EDC547-3A5B-4005-9CB8-D83E71BE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47625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Inspect the evidence</a:t>
            </a:r>
          </a:p>
        </p:txBody>
      </p:sp>
      <p:sp>
        <p:nvSpPr>
          <p:cNvPr id="12" name="workflow-step-03-body">
            <a:extLst xmlns:a="http://schemas.openxmlformats.org/drawingml/2006/main">
              <a:ext uri="{FF2B5EF4-FFF2-40B4-BE49-F238E27FC236}">
                <a16:creationId xmlns:a16="http://schemas.microsoft.com/office/drawing/2014/main" id="{DB45C115-12C4-46DE-A41F-6ABAE0F6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14825"/>
            <a:ext cx="4762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6536B"/>
                </a:solidFill>
                <a:latin typeface="Helvetica Neue"/>
                <a:ea typeface="Helvetica Neue"/>
                <a:cs typeface="Helvetica Neue"/>
              </a:defRPr>
            </a:pPr>
            <a:r>
              <a:t>Every case exposes tier, confidence, amount, evidence count and clickable file:row citations.</a:t>
            </a:r>
          </a:p>
        </p:txBody>
      </p:sp>
      <p:sp>
        <p:nvSpPr>
          <p:cNvPr id="13" name="workflow-step-04-num">
            <a:extLst xmlns:a="http://schemas.openxmlformats.org/drawingml/2006/main">
              <a:ext uri="{FF2B5EF4-FFF2-40B4-BE49-F238E27FC236}">
                <a16:creationId xmlns:a16="http://schemas.microsoft.com/office/drawing/2014/main" id="{72DF76C7-A365-4F4E-B699-5BC1DA37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38700"/>
            <a:ext cx="495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14" name="workflow-step-04-title">
            <a:extLst xmlns:a="http://schemas.openxmlformats.org/drawingml/2006/main">
              <a:ext uri="{FF2B5EF4-FFF2-40B4-BE49-F238E27FC236}">
                <a16:creationId xmlns:a16="http://schemas.microsoft.com/office/drawing/2014/main" id="{BE016A8F-47F9-4A00-989B-10E77C0C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19650"/>
            <a:ext cx="47625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Record the verdict</a:t>
            </a:r>
          </a:p>
        </p:txBody>
      </p:sp>
      <p:sp>
        <p:nvSpPr>
          <p:cNvPr id="15" name="workflow-step-04-body">
            <a:extLst xmlns:a="http://schemas.openxmlformats.org/drawingml/2006/main">
              <a:ext uri="{FF2B5EF4-FFF2-40B4-BE49-F238E27FC236}">
                <a16:creationId xmlns:a16="http://schemas.microsoft.com/office/drawing/2014/main" id="{32923F03-A2AA-4007-81B6-9253DE9F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33975"/>
            <a:ext cx="4762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46536B"/>
                </a:solidFill>
                <a:latin typeface="Helvetica Neue"/>
                <a:ea typeface="Helvetica Neue"/>
                <a:cs typeface="Helvetica Neue"/>
              </a:defRPr>
            </a:pPr>
            <a:r>
              <a:t>Auditor decisions and notes become a PDF or Markdown verification report.</a:t>
            </a:r>
          </a:p>
        </p:txBody>
      </p:sp>
      <p:sp>
        <p:nvSpPr>
          <p:cNvPr id="16" name="source-3">
            <a:extLst xmlns:a="http://schemas.openxmlformats.org/drawingml/2006/main">
              <a:ext uri="{FF2B5EF4-FFF2-40B4-BE49-F238E27FC236}">
                <a16:creationId xmlns:a16="http://schemas.microsoft.com/office/drawing/2014/main" id="{10CC65CC-8276-466F-9627-67F626EC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62700"/>
            <a:ext cx="933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6738C"/>
                </a:solidFill>
                <a:latin typeface="Helvetica Neue"/>
                <a:ea typeface="Helvetica Neue"/>
                <a:cs typeface="Helvetica Neue"/>
              </a:defRPr>
            </a:pPr>
            <a:r>
              <a:t>Live product: fraudmind.netlify.app · captured 18 Jul 2026</a:t>
            </a:r>
          </a:p>
        </p:txBody>
      </p:sp>
      <p:sp>
        <p:nvSpPr>
          <p:cNvPr id="17" name="page-3">
            <a:extLst xmlns:a="http://schemas.openxmlformats.org/drawingml/2006/main">
              <a:ext uri="{FF2B5EF4-FFF2-40B4-BE49-F238E27FC236}">
                <a16:creationId xmlns:a16="http://schemas.microsoft.com/office/drawing/2014/main" id="{C4DC0054-27E1-4FF4-87C8-42620095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79369ad1b4549"/>
          <a:stretch xmlns:a="http://schemas.openxmlformats.org/drawingml/2006/main"/>
        </p:blipFill>
        <p:spPr>
          <a:xfrm xmlns:a="http://schemas.openxmlformats.org/drawingml/2006/main">
            <a:off x="6759738" y="1581150"/>
            <a:ext cx="4558974" cy="4267200"/>
          </a:xfrm>
          <a:prstGeom xmlns:a="http://schemas.openxmlformats.org/drawingml/2006/main" prst="roundRect">
            <a:avLst>
              <a:gd name="adj" fmla="val 2679"/>
            </a:avLst>
          </a:prstGeom>
        </p:spPr>
      </p:pic>
    </p:spTree>
    <p:extLst>
      <p:ext uri="{BB962C8B-B14F-4D97-AF65-F5344CB8AC3E}">
        <p14:creationId xmlns:p14="http://schemas.microsoft.com/office/powerpoint/2010/main" val="10651743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oof-title">
            <a:extLst xmlns:a="http://schemas.openxmlformats.org/drawingml/2006/main">
              <a:ext uri="{FF2B5EF4-FFF2-40B4-BE49-F238E27FC236}">
                <a16:creationId xmlns:a16="http://schemas.microsoft.com/office/drawing/2014/main" id="{656E71BF-3467-427B-ABF8-58095BBC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4292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It held up on an unseen 1.08M-line dossier.</a:t>
            </a:r>
          </a:p>
        </p:txBody>
      </p:sp>
      <p:sp>
        <p:nvSpPr>
          <p:cNvPr id="2" name="proof-image-backing">
            <a:extLst xmlns:a="http://schemas.openxmlformats.org/drawingml/2006/main">
              <a:ext uri="{FF2B5EF4-FFF2-40B4-BE49-F238E27FC236}">
                <a16:creationId xmlns:a16="http://schemas.microsoft.com/office/drawing/2014/main" id="{5539FB5C-2E79-453A-994D-D05E6F58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5143500" cy="4648200"/>
          </a:xfrm>
          <a:prstGeom xmlns:a="http://schemas.openxmlformats.org/drawingml/2006/main" prst="roundRect">
            <a:avLst>
              <a:gd name="adj" fmla="val 163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" name="proof-card-1">
            <a:extLst xmlns:a="http://schemas.openxmlformats.org/drawingml/2006/main">
              <a:ext uri="{FF2B5EF4-FFF2-40B4-BE49-F238E27FC236}">
                <a16:creationId xmlns:a16="http://schemas.microsoft.com/office/drawing/2014/main" id="{7BB14D7A-5520-4150-9071-DC362020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393668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EF2FA"/>
          </a:solidFill>
          <a:ln xmlns:a="http://schemas.openxmlformats.org/drawingml/2006/main" w="0">
            <a:solidFill>
              <a:srgbClr val="EEF2FA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proof-stat-1">
            <a:extLst xmlns:a="http://schemas.openxmlformats.org/drawingml/2006/main">
              <a:ext uri="{FF2B5EF4-FFF2-40B4-BE49-F238E27FC236}">
                <a16:creationId xmlns:a16="http://schemas.microsoft.com/office/drawing/2014/main" id="{1630BB6B-00F3-4059-B83B-ED4AD9DC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622268"/>
            <a:ext cx="2476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F3D7A"/>
                </a:solidFill>
                <a:latin typeface="Helvetica Neue"/>
                <a:ea typeface="Helvetica Neue"/>
                <a:cs typeface="Helvetica Neue"/>
              </a:defRPr>
            </a:pPr>
            <a:r>
              <a:t>1,083,723</a:t>
            </a:r>
          </a:p>
        </p:txBody>
      </p:sp>
      <p:sp>
        <p:nvSpPr>
          <p:cNvPr id="5" name="proof-label-1">
            <a:extLst xmlns:a="http://schemas.openxmlformats.org/drawingml/2006/main">
              <a:ext uri="{FF2B5EF4-FFF2-40B4-BE49-F238E27FC236}">
                <a16:creationId xmlns:a16="http://schemas.microsoft.com/office/drawing/2014/main" id="{D620C41D-7E9E-490C-BDE8-5F5BCC90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1260443"/>
            <a:ext cx="4857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46536B"/>
                </a:solidFill>
                <a:latin typeface="Helvetica Neue"/>
                <a:ea typeface="Helvetica Neue"/>
                <a:cs typeface="Helvetica Neue"/>
              </a:defRPr>
            </a:pPr>
            <a:r>
              <a:t>GL lines analyzed on the previously unseen final dossier</a:t>
            </a:r>
          </a:p>
        </p:txBody>
      </p:sp>
      <p:sp>
        <p:nvSpPr>
          <p:cNvPr id="6" name="proof-card-2">
            <a:extLst xmlns:a="http://schemas.openxmlformats.org/drawingml/2006/main">
              <a:ext uri="{FF2B5EF4-FFF2-40B4-BE49-F238E27FC236}">
                <a16:creationId xmlns:a16="http://schemas.microsoft.com/office/drawing/2014/main" id="{DC9D7BA2-9A43-4C9A-80FD-64AE2B42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7DEE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proof-stat-2">
            <a:extLst xmlns:a="http://schemas.openxmlformats.org/drawingml/2006/main">
              <a:ext uri="{FF2B5EF4-FFF2-40B4-BE49-F238E27FC236}">
                <a16:creationId xmlns:a16="http://schemas.microsoft.com/office/drawing/2014/main" id="{8B7F485E-E9C4-4131-B895-EC972A5E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598420"/>
            <a:ext cx="2476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F3D7A"/>
                </a:solidFill>
                <a:latin typeface="Helvetica Neue"/>
                <a:ea typeface="Helvetica Neue"/>
                <a:cs typeface="Helvetica Neue"/>
              </a:defRPr>
            </a:pPr>
            <a:r>
              <a:t>54</a:t>
            </a:r>
          </a:p>
        </p:txBody>
      </p:sp>
      <p:sp>
        <p:nvSpPr>
          <p:cNvPr id="8" name="proof-label-2">
            <a:extLst xmlns:a="http://schemas.openxmlformats.org/drawingml/2006/main">
              <a:ext uri="{FF2B5EF4-FFF2-40B4-BE49-F238E27FC236}">
                <a16:creationId xmlns:a16="http://schemas.microsoft.com/office/drawing/2014/main" id="{83217C7A-6979-40F1-A8D1-9BB023F7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3236595"/>
            <a:ext cx="4857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46536B"/>
                </a:solidFill>
                <a:latin typeface="Helvetica Neue"/>
                <a:ea typeface="Helvetica Neue"/>
                <a:cs typeface="Helvetica Neue"/>
              </a:defRPr>
            </a:pPr>
            <a:r>
              <a:t>ranked findings · 20 flagged · 33 needs review · 1 info</a:t>
            </a:r>
          </a:p>
        </p:txBody>
      </p:sp>
      <p:sp>
        <p:nvSpPr>
          <p:cNvPr id="9" name="proof-card-3">
            <a:extLst xmlns:a="http://schemas.openxmlformats.org/drawingml/2006/main">
              <a:ext uri="{FF2B5EF4-FFF2-40B4-BE49-F238E27FC236}">
                <a16:creationId xmlns:a16="http://schemas.microsoft.com/office/drawing/2014/main" id="{A094D706-55D5-4A03-B261-851BDA58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8150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BEAE8"/>
          </a:solidFill>
          <a:ln xmlns:a="http://schemas.openxmlformats.org/drawingml/2006/main" w="0">
            <a:solidFill>
              <a:srgbClr val="FBEAE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proof-stat-3">
            <a:extLst xmlns:a="http://schemas.openxmlformats.org/drawingml/2006/main">
              <a:ext uri="{FF2B5EF4-FFF2-40B4-BE49-F238E27FC236}">
                <a16:creationId xmlns:a16="http://schemas.microsoft.com/office/drawing/2014/main" id="{CE9822EE-CF7D-4715-B757-F5662E01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10100"/>
            <a:ext cx="2476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~40 sec</a:t>
            </a:r>
          </a:p>
        </p:txBody>
      </p:sp>
      <p:sp>
        <p:nvSpPr>
          <p:cNvPr id="11" name="proof-label-3">
            <a:extLst xmlns:a="http://schemas.openxmlformats.org/drawingml/2006/main">
              <a:ext uri="{FF2B5EF4-FFF2-40B4-BE49-F238E27FC236}">
                <a16:creationId xmlns:a16="http://schemas.microsoft.com/office/drawing/2014/main" id="{EF525FEB-7BFA-4E35-BD4E-8AAD87DC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5248275"/>
            <a:ext cx="4857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46536B"/>
                </a:solidFill>
                <a:latin typeface="Helvetica Neue"/>
                <a:ea typeface="Helvetica Neue"/>
                <a:cs typeface="Helvetica Neue"/>
              </a:defRPr>
            </a:pPr>
            <a:r>
              <a:t>end-to-end runtime · same pipeline, unchanged</a:t>
            </a:r>
          </a:p>
        </p:txBody>
      </p:sp>
      <p:sp>
        <p:nvSpPr>
          <p:cNvPr id="12" name="source-4">
            <a:extLst xmlns:a="http://schemas.openxmlformats.org/drawingml/2006/main">
              <a:ext uri="{FF2B5EF4-FFF2-40B4-BE49-F238E27FC236}">
                <a16:creationId xmlns:a16="http://schemas.microsoft.com/office/drawing/2014/main" id="{DCC6FC17-97A4-4C02-A1ED-4319DEF9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62700"/>
            <a:ext cx="9334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66738C"/>
                </a:solidFill>
                <a:latin typeface="Helvetica Neue"/>
                <a:ea typeface="Helvetica Neue"/>
                <a:cs typeface="Helvetica Neue"/>
              </a:defRPr>
            </a:pPr>
            <a:r>
              <a:t>Top finding: €6.0M journal posted “GEBUCHT OHNE FREIGABE” · €13.99M confirmed in review · commit cf739a3</a:t>
            </a:r>
          </a:p>
        </p:txBody>
      </p:sp>
      <p:sp>
        <p:nvSpPr>
          <p:cNvPr id="13" name="page-4">
            <a:extLst xmlns:a="http://schemas.openxmlformats.org/drawingml/2006/main">
              <a:ext uri="{FF2B5EF4-FFF2-40B4-BE49-F238E27FC236}">
                <a16:creationId xmlns:a16="http://schemas.microsoft.com/office/drawing/2014/main" id="{2F2DABF6-1457-437C-8591-07941936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bc1dee78e4ded"/>
          <a:stretch xmlns:a="http://schemas.openxmlformats.org/drawingml/2006/main"/>
        </p:blipFill>
        <p:spPr>
          <a:xfrm xmlns:a="http://schemas.openxmlformats.org/drawingml/2006/main">
            <a:off x="629708" y="1543050"/>
            <a:ext cx="4665133" cy="4419600"/>
          </a:xfrm>
          <a:prstGeom xmlns:a="http://schemas.openxmlformats.org/drawingml/2006/main" prst="roundRect">
            <a:avLst>
              <a:gd name="adj" fmla="val 2586"/>
            </a:avLst>
          </a:prstGeom>
        </p:spPr>
      </p:pic>
    </p:spTree>
    <p:extLst>
      <p:ext uri="{BB962C8B-B14F-4D97-AF65-F5344CB8AC3E}">
        <p14:creationId xmlns:p14="http://schemas.microsoft.com/office/powerpoint/2010/main" val="19409284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A8E53DB6-4FAC-428F-A75C-B348F2EC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2286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3D7A"/>
                </a:solidFill>
                <a:latin typeface="Helvetica Neue"/>
                <a:ea typeface="Helvetica Neue"/>
                <a:cs typeface="Helvetica Neue"/>
              </a:defRPr>
            </a:pPr>
            <a:r>
              <a:t>NEXT STEP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26F40CFC-98BB-47D1-9770-6BF09B7B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0965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Pilot FraudMind
on one real dossier.</a:t>
            </a:r>
          </a:p>
        </p:txBody>
      </p:sp>
      <p:sp>
        <p:nvSpPr>
          <p:cNvPr id="3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A897AACB-1A42-4C8D-BF8C-0A2BBAD2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667250"/>
            <a:ext cx="1257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close-metric-line">
            <a:extLst xmlns:a="http://schemas.openxmlformats.org/drawingml/2006/main">
              <a:ext uri="{FF2B5EF4-FFF2-40B4-BE49-F238E27FC236}">
                <a16:creationId xmlns:a16="http://schemas.microsoft.com/office/drawing/2014/main" id="{69009ABD-02BB-4D74-955B-3B86EDA8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010150"/>
            <a:ext cx="8096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46536B"/>
                </a:solidFill>
                <a:latin typeface="Helvetica Neue"/>
                <a:ea typeface="Helvetica Neue"/>
                <a:cs typeface="Helvetica Neue"/>
              </a:defRPr>
            </a:pPr>
            <a:r>
              <a:t>Measure review time · evidence coverage · false-positive rate</a:t>
            </a:r>
          </a:p>
        </p:txBody>
      </p:sp>
      <p:sp>
        <p:nvSpPr>
          <p:cNvPr id="5" name="close-demo-url">
            <a:extLst xmlns:a="http://schemas.openxmlformats.org/drawingml/2006/main">
              <a:ext uri="{FF2B5EF4-FFF2-40B4-BE49-F238E27FC236}">
                <a16:creationId xmlns:a16="http://schemas.microsoft.com/office/drawing/2014/main" id="{06D102D3-016A-42AB-BFCF-1AF240AF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572125"/>
            <a:ext cx="476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3D7A"/>
                </a:solidFill>
                <a:latin typeface="Helvetica Neue"/>
                <a:ea typeface="Helvetica Neue"/>
                <a:cs typeface="Helvetica Neue"/>
              </a:defRPr>
            </a:pPr>
            <a:r>
              <a:t>fraudmind.netlify.app</a:t>
            </a:r>
          </a:p>
        </p:txBody>
      </p:sp>
      <p:sp>
        <p:nvSpPr>
          <p:cNvPr id="6" name="close-github-url">
            <a:extLst xmlns:a="http://schemas.openxmlformats.org/drawingml/2006/main">
              <a:ext uri="{FF2B5EF4-FFF2-40B4-BE49-F238E27FC236}">
                <a16:creationId xmlns:a16="http://schemas.microsoft.com/office/drawing/2014/main" id="{3204A5C4-6E51-44E2-BDB0-8592C929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3600"/>
            <a:ext cx="533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46536B"/>
                </a:solidFill>
                <a:latin typeface="Helvetica Neue"/>
                <a:ea typeface="Helvetica Neue"/>
                <a:cs typeface="Helvetica Neue"/>
              </a:defRPr>
            </a:pPr>
            <a:r>
              <a:t>github.com/kaiser-data/fraudmind</a:t>
            </a:r>
          </a:p>
        </p:txBody>
      </p:sp>
      <p:sp>
        <p:nvSpPr>
          <p:cNvPr id="7" name="page-5">
            <a:extLst xmlns:a="http://schemas.openxmlformats.org/drawingml/2006/main">
              <a:ext uri="{FF2B5EF4-FFF2-40B4-BE49-F238E27FC236}">
                <a16:creationId xmlns:a16="http://schemas.microsoft.com/office/drawing/2014/main" id="{4458C387-DFD3-4335-9BF3-5D33FB63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63886923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55560"/>
                </a:solidFill>
              </a:rPr>
              <a:t>APPENDIX · A1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D7A"/>
                </a:solidFill>
              </a:rPr>
              <a:t>Evaluation: calibrated on ground truth, guarded against overfitting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D7A"/>
                </a:solidFill>
              </a:rPr>
              <a:t>Practice case scored against the answer key</a:t>
            </a:r>
          </a:p>
          <a:p>
            <a:r>
              <a:rPr sz="1200">
                <a:solidFill>
                  <a:srgbClr val="1A1A2E"/>
                </a:solidFill>
              </a:rPr>
              <a:t>4/4 planted frauds found, zero seeded decoys wrongly accused. Every key amount re-derived from raw source files (net vs gross reconciled at the cent).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D7A"/>
                </a:solidFill>
              </a:rPr>
              <a:t>Formal calibration loop</a:t>
            </a:r>
          </a:p>
          <a:p>
            <a:r>
              <a:rPr sz="1200">
                <a:solidFill>
                  <a:srgbClr val="1A1A2E"/>
                </a:solidFill>
              </a:rPr>
              <a:t>Every engine-vs-key delta classified (TP / corroboration / miss / FP); misses diagnosed at the invariant level; every fix passes a generalization gate: zero identifiers from any dossier, regression rerun byte-identical, year-shifted rename simulation identical.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51959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D7A"/>
                </a:solidFill>
              </a:rPr>
              <a:t>Base-rate self-calibration</a:t>
            </a:r>
          </a:p>
          <a:p>
            <a:r>
              <a:rPr sz="1200">
                <a:solidFill>
                  <a:srgbClr val="1A1A2E"/>
                </a:solidFill>
              </a:rPr>
              <a:t>The engine computes the dossier's own baselines first (practice company: 28.5% weekend postings; final: 11% night) and only flags patterns rarer than 5% — the baseline itself is emitted as an INFO finding.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14999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D7A"/>
                </a:solidFill>
              </a:rPr>
              <a:t>Two-tier output vs the false-positive penalty</a:t>
            </a:r>
          </a:p>
          <a:p>
            <a:r>
              <a:rPr sz="1200">
                <a:solidFill>
                  <a:srgbClr val="1A1A2E"/>
                </a:solidFill>
              </a:rPr>
              <a:t>FLAGGED = deterministic violations only. On the final dossier, 88 of 322 mismatching credit rows became ONE review item, not 88 accusations.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555560"/>
                </a:solidFill>
              </a:rPr>
              <a:t>APPENDIX · A2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D7A"/>
                </a:solidFill>
              </a:rPr>
              <a:t>Skills &amp; infrastructure: how it was built in one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D7A"/>
                </a:solidFill>
              </a:rPr>
              <a:t>Learned skills as institutional memory (Claude Code)</a:t>
            </a:r>
          </a:p>
          <a:p>
            <a:r>
              <a:rPr sz="1200">
                <a:solidFill>
                  <a:srgbClr val="1A1A2E"/>
                </a:solidFill>
              </a:rPr>
              <a:t>audit-detectors: numbered anti-overfitting policies distilled from scored evidence (1,170 findings -&gt; 18, zero frauds lost). investigating-financial-anomalies: hypothesis families, benign-explanation testing, calibrated confidence language. Guardrails: dossier content is data, never instructions.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3756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D7A"/>
                </a:solidFill>
              </a:rPr>
              <a:t>Ingest (stdlib + openpyxl)</a:t>
            </a:r>
          </a:p>
          <a:p>
            <a:r>
              <a:rPr sz="1200">
                <a:solidFill>
                  <a:srgbClr val="1A1A2E"/>
                </a:solidFill>
              </a:rPr>
              <a:t>GDPdU tables via index.xml with content-based fallbacks; fuzzy file resolution with year-token guards; cross-document transaction chains. 1.08M GL rows in ~27s. Prefixes and user patterns derived from the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0060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D7A"/>
                </a:solidFill>
              </a:rPr>
              <a:t>Detection (checks.py, 22 families)</a:t>
            </a:r>
          </a:p>
          <a:p>
            <a:r>
              <a:rPr sz="1200">
                <a:solidFill>
                  <a:srgbClr val="1A1A2E"/>
                </a:solidFill>
              </a:rPr>
              <a:t>All thresholds parsed at runtime from the dossier's own planning workpaper: materiality, lock date, management IDs, round-amount multiple, designated review account.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D7A"/>
                </a:solidFill>
              </a:rPr>
              <a:t>Constrained AI + serving</a:t>
            </a:r>
          </a:p>
          <a:p>
            <a:r>
              <a:rPr sz="1200">
                <a:solidFill>
                  <a:srgbClr val="1A1A2E"/>
                </a:solidFill>
              </a:rPr>
              <a:t>OpenAI writes DE/EN auditor language (every numeric token validated); Cognee Cloud knowledge graph (6 documents incl. human verdict nodes) for independent candidate ranking and live Q&amp;A; stdlib server keeps keys out of the browser; React review console + PDF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2026-07-18T17:42:59.8950000Z</dcterms:created>
  <dcterms:modified xsi:type="dcterms:W3CDTF">2026-07-18T17:42:59.8950000Z</dcterms:modified>
</coreProperties>
</file>